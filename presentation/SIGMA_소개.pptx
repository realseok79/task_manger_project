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40280"/>
            <a:ext cx="121916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SIGMA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지금 할 일을, 알아서 위로.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적응형 할 일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할 일이 쌓이면,</a:t>
            </a:r>
          </a:p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가장 어려운 건 “지금 뭘 하지?”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862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마감 · 중요도 · 미룬 일 … 매번 머릿속으로 다시 계산해야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SIGMA는, 세 가지로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01  적응형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1947672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지금 할 수 있는 일을 위로 — ‘최우선 과제’ 한 가지를 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02  키보드 우선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3273551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⌘K 커맨드 팔레트 · N 빠른 추가로 검색·이동·생성을 한 번에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03  놓침 방지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4599432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여러 번 미룬 ‘좀비’·마감 임박을 알림으로, 보관함으로 안전하게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적응형 우선순위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가용 시간·에너지를 입력하면 지금 할 수 있는 일이 위로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‘최우선 과제’ 한 가지를 카드로 제시 + 집중 타이머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맞지 않는 작업은 흐리게(시간·에너지 초과)</a:t>
            </a:r>
          </a:p>
        </p:txBody>
      </p:sp>
      <p:pic>
        <p:nvPicPr>
          <p:cNvPr id="4" name="Picture 3" descr="01-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5" y="2395728"/>
            <a:ext cx="6364223" cy="3977639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한눈에 보는 리스트 · 정렬 ·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오늘 · 중요 · 기록 · 보관함 — 평평한 줄로 빠르게 스캔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정렬: 적응형 · 마감 임박순 · 중요도순  /  보기: 카드 ⇄ 줄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카테고리 의미 색 태그 + D-day 우측 정렬</a:t>
            </a:r>
          </a:p>
        </p:txBody>
      </p:sp>
      <p:pic>
        <p:nvPicPr>
          <p:cNvPr id="4" name="Picture 3" descr="05-impor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5" y="2395728"/>
            <a:ext cx="6364223" cy="3977639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빠른 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N 키 또는 ‘+ 새 작업’으로 즉시 추가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제목 + 에너지 · 카테고리 · 중요도 · 마감을 한 번에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추가 직후 우선순위에 자동 반영</a:t>
            </a:r>
          </a:p>
        </p:txBody>
      </p:sp>
      <p:pic>
        <p:nvPicPr>
          <p:cNvPr id="4" name="Picture 3" descr="08-compo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5" y="2395728"/>
            <a:ext cx="6364223" cy="3977639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⌘K 커맨드 팔레트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⌘K / Ctrl+K — 어디서나 호출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모든 작업(오늘·보관함·기록) 통합 검색 + 페이지 이동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‘…’ 새 작업으로 추가까지 한 곳에서, 키보드만으로</a:t>
            </a:r>
          </a:p>
        </p:txBody>
      </p:sp>
      <p:pic>
        <p:nvPicPr>
          <p:cNvPr id="4" name="Picture 3" descr="02-pa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5" y="2395728"/>
            <a:ext cx="6364223" cy="3977639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놓치지 않게 — 좀비 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5번 이상 미룬 작업은 빨갛게 ‘좀비’로 강조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‘지금은 타이밍이 아닐 수 있어요’ — 보관 / 계속 유지 제안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보관하면 보관함으로, 언제든 복구</a:t>
            </a:r>
          </a:p>
        </p:txBody>
      </p:sp>
      <p:pic>
        <p:nvPicPr>
          <p:cNvPr id="4" name="Picture 3" descr="09-zomb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5" y="2395728"/>
            <a:ext cx="6364223" cy="3977639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보관함 — 복구 · 영구삭제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미뤄둔 작업을 한곳에 모아 시야에서 정리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‘복구’로 다시 목록에, ‘삭제’로 영구 제거(5초 실행취소)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보관 시 토스트로 어디로 갔는지 즉시 안내</a:t>
            </a:r>
          </a:p>
        </p:txBody>
      </p:sp>
      <p:pic>
        <p:nvPicPr>
          <p:cNvPr id="4" name="Picture 3" descr="03-arc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5" y="2395728"/>
            <a:ext cx="6364223" cy="3977639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알림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여러 번 미룬 작업 · 마감 임박을 벨 알림으로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놓치기 쉬운 일을 먼저 띄움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설정에서 알림 표시 on/off</a:t>
            </a:r>
          </a:p>
        </p:txBody>
      </p:sp>
      <p:pic>
        <p:nvPicPr>
          <p:cNvPr id="4" name="Picture 3" descr="04-n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5" y="2395728"/>
            <a:ext cx="6364223" cy="3977639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어디서나, 작게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메인 창을 내려도 떠 있는 작은 위젯으로 오늘 할 일을 확인.</a:t>
            </a:r>
          </a:p>
        </p:txBody>
      </p:sp>
      <p:pic>
        <p:nvPicPr>
          <p:cNvPr id="4" name="Picture 3" descr="07-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011680"/>
            <a:ext cx="2743200" cy="3943350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68680" y="2331720"/>
            <a:ext cx="67665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Chrome · Edge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     화면 위에 항상 떠 있는 미니 창(PiP)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그 외 브라우저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     화면 오른쪽에 작은 팝업 창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위젯에서 체크하면 본 화면도 즉시 동기화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설정 · 도움말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테마: 시스템 · 라이트 · 다크 (선택 저장)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알림 표시 토글</a:t>
            </a:r>
          </a:p>
          <a:p>
            <a:pPr algn="l">
              <a:lnSpc>
                <a:spcPct val="128000"/>
              </a:lnSpc>
            </a:pPr>
            <a:r>
              <a:rPr sz="1450" b="0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•  도움말: 단축키·기능 안내(⌘K · N · Enter · Esc)</a:t>
            </a:r>
          </a:p>
        </p:txBody>
      </p:sp>
      <p:pic>
        <p:nvPicPr>
          <p:cNvPr id="4" name="Picture 3" descr="10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735" y="2395728"/>
            <a:ext cx="6364223" cy="3977639"/>
          </a:xfrm>
          <a:prstGeom prst="rect">
            <a:avLst/>
          </a:prstGeom>
          <a:ln w="9525">
            <a:solidFill>
              <a:srgbClr val="E2DF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속 엔진 ① — 점수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중요한 일을 자동으로 위로 올리는 우선순위 점수.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점수  =  중요도  +  긴급도  −  지연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6647" y="2971800"/>
            <a:ext cx="3017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중요도</a:t>
            </a:r>
          </a:p>
          <a:p>
            <a:pPr algn="ctr">
              <a:lnSpc>
                <a:spcPct val="115000"/>
              </a:lnSpc>
            </a:pPr>
            <a:r>
              <a:rPr sz="125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중요할수록 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7087" y="2971800"/>
            <a:ext cx="3017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긴급도</a:t>
            </a:r>
          </a:p>
          <a:p>
            <a:pPr algn="ctr">
              <a:lnSpc>
                <a:spcPct val="115000"/>
              </a:lnSpc>
            </a:pPr>
            <a:r>
              <a:rPr sz="125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마감 임박할수록 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7527" y="2971800"/>
            <a:ext cx="3017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지연</a:t>
            </a:r>
          </a:p>
          <a:p>
            <a:pPr algn="ctr">
              <a:lnSpc>
                <a:spcPct val="115000"/>
              </a:lnSpc>
            </a:pPr>
            <a:r>
              <a:rPr sz="125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미룰수록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5488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긴급도는 마감이 가까울수록 1에 수렴(쌍곡 감쇠) · 마감이 없으면 미룬 횟수로 ‘방치도’가 오른다.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속 엔진 ② — 스스로 적응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행동을 학습해 가중치를 조정하고, 가끔은 새로운 일도 권한다.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767" y="22860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행동 학습</a:t>
            </a:r>
          </a:p>
          <a:p>
            <a:pPr algn="ctr">
              <a:lnSpc>
                <a:spcPct val="115000"/>
              </a:lnSpc>
            </a:pPr>
            <a:r>
              <a:rPr sz="130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중요한 일을 자꾸 미루면(스누즈↑) 중요도 가중치를 자동 상향.
매일 자정, 최근 24시간 행동 로그를 학습.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0167" y="22860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탐색 · ε-greedy 5%</a:t>
            </a:r>
          </a:p>
          <a:p>
            <a:pPr algn="ctr">
              <a:lnSpc>
                <a:spcPct val="115000"/>
              </a:lnSpc>
            </a:pPr>
            <a:r>
              <a:rPr sz="130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가끔(5%) 최근 가장 덜 한 카테고리의 일을 슬쩍 추천.
한쪽으로 치우치는 ‘편식’을 막는다.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>
                <a:solidFill>
                  <a:srgbClr val="6F6D68"/>
                </a:solidFill>
                <a:latin typeface="Apple SD Gothic Neo"/>
                <a:ea typeface="Apple SD Gothic Neo"/>
                <a:cs typeface="Apple SD Gothic Neo"/>
              </a:rPr>
              <a:t>규칙 기반 · 설명가능 — 왜 이 점수인지(중요도/긴급도/지연 기여분)를 그대로 드러낸다.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C1B19"/>
                </a:solidFill>
                <a:latin typeface="Apple SD Gothic Neo"/>
                <a:ea typeface="Apple SD Gothic Neo"/>
                <a:cs typeface="Apple SD Gothic Neo"/>
              </a:rPr>
              <a:t>정리가 아니라, ‘지금 할 일’로.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A8A59D"/>
                </a:solidFill>
                <a:latin typeface="Apple SD Gothic Neo"/>
                <a:ea typeface="Apple SD Gothic Neo"/>
                <a:cs typeface="Apple SD Gothic Neo"/>
              </a:rPr>
              <a:t>SIGMA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